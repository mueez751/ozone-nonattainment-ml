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grandir Grand" charset="1" panose="00000507000000000000"/>
      <p:regular r:id="rId13"/>
    </p:embeddedFont>
    <p:embeddedFont>
      <p:font typeface="Poppins" charset="1" panose="00000500000000000000"/>
      <p:regular r:id="rId14"/>
    </p:embeddedFont>
    <p:embeddedFont>
      <p:font typeface="Poppins Italics" charset="1" panose="00000500000000000000"/>
      <p:regular r:id="rId15"/>
    </p:embeddedFont>
    <p:embeddedFont>
      <p:font typeface="Arimo" charset="1" panose="020B0604020202020204"/>
      <p:regular r:id="rId16"/>
    </p:embeddedFont>
    <p:embeddedFont>
      <p:font typeface="Poppins Bold" charset="1" panose="00000800000000000000"/>
      <p:regular r:id="rId17"/>
    </p:embeddedFont>
    <p:embeddedFont>
      <p:font typeface="Arimo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3181" y="-2174277"/>
            <a:ext cx="6405953" cy="6405953"/>
          </a:xfrm>
          <a:custGeom>
            <a:avLst/>
            <a:gdLst/>
            <a:ahLst/>
            <a:cxnLst/>
            <a:rect r="r" b="b" t="t" l="l"/>
            <a:pathLst>
              <a:path h="6405953" w="6405953">
                <a:moveTo>
                  <a:pt x="0" y="0"/>
                </a:moveTo>
                <a:lnTo>
                  <a:pt x="6405954" y="0"/>
                </a:lnTo>
                <a:lnTo>
                  <a:pt x="6405954" y="6405954"/>
                </a:lnTo>
                <a:lnTo>
                  <a:pt x="0" y="6405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144756"/>
            <a:ext cx="8846281" cy="1631733"/>
            <a:chOff x="0" y="0"/>
            <a:chExt cx="2338305" cy="431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8305" cy="431310"/>
            </a:xfrm>
            <a:custGeom>
              <a:avLst/>
              <a:gdLst/>
              <a:ahLst/>
              <a:cxnLst/>
              <a:rect r="r" b="b" t="t" l="l"/>
              <a:pathLst>
                <a:path h="431310" w="2338305">
                  <a:moveTo>
                    <a:pt x="71763" y="0"/>
                  </a:moveTo>
                  <a:lnTo>
                    <a:pt x="2266542" y="0"/>
                  </a:lnTo>
                  <a:cubicBezTo>
                    <a:pt x="2306176" y="0"/>
                    <a:pt x="2338305" y="32129"/>
                    <a:pt x="2338305" y="71763"/>
                  </a:cubicBezTo>
                  <a:lnTo>
                    <a:pt x="2338305" y="359547"/>
                  </a:lnTo>
                  <a:cubicBezTo>
                    <a:pt x="2338305" y="378580"/>
                    <a:pt x="2330744" y="396833"/>
                    <a:pt x="2317286" y="410291"/>
                  </a:cubicBezTo>
                  <a:cubicBezTo>
                    <a:pt x="2303828" y="423749"/>
                    <a:pt x="2285575" y="431310"/>
                    <a:pt x="2266542" y="431310"/>
                  </a:cubicBezTo>
                  <a:lnTo>
                    <a:pt x="71763" y="431310"/>
                  </a:lnTo>
                  <a:cubicBezTo>
                    <a:pt x="52730" y="431310"/>
                    <a:pt x="34477" y="423749"/>
                    <a:pt x="21019" y="410291"/>
                  </a:cubicBezTo>
                  <a:cubicBezTo>
                    <a:pt x="7561" y="396833"/>
                    <a:pt x="0" y="378580"/>
                    <a:pt x="0" y="359547"/>
                  </a:cubicBezTo>
                  <a:lnTo>
                    <a:pt x="0" y="71763"/>
                  </a:lnTo>
                  <a:cubicBezTo>
                    <a:pt x="0" y="52730"/>
                    <a:pt x="7561" y="34477"/>
                    <a:pt x="21019" y="21019"/>
                  </a:cubicBezTo>
                  <a:cubicBezTo>
                    <a:pt x="34477" y="7561"/>
                    <a:pt x="52730" y="0"/>
                    <a:pt x="71763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338305" cy="488460"/>
            </a:xfrm>
            <a:prstGeom prst="rect">
              <a:avLst/>
            </a:prstGeom>
          </p:spPr>
          <p:txBody>
            <a:bodyPr anchor="ctr" rtlCol="false" tIns="52378" lIns="52378" bIns="52378" rIns="5237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54582" y="1390183"/>
            <a:ext cx="5390070" cy="5390070"/>
          </a:xfrm>
          <a:custGeom>
            <a:avLst/>
            <a:gdLst/>
            <a:ahLst/>
            <a:cxnLst/>
            <a:rect r="r" b="b" t="t" l="l"/>
            <a:pathLst>
              <a:path h="5390070" w="5390070">
                <a:moveTo>
                  <a:pt x="0" y="0"/>
                </a:moveTo>
                <a:lnTo>
                  <a:pt x="5390070" y="0"/>
                </a:lnTo>
                <a:lnTo>
                  <a:pt x="5390070" y="5390070"/>
                </a:lnTo>
                <a:lnTo>
                  <a:pt x="0" y="539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89614" y="5230915"/>
            <a:ext cx="1549338" cy="1549338"/>
          </a:xfrm>
          <a:custGeom>
            <a:avLst/>
            <a:gdLst/>
            <a:ahLst/>
            <a:cxnLst/>
            <a:rect r="r" b="b" t="t" l="l"/>
            <a:pathLst>
              <a:path h="1549338" w="1549338">
                <a:moveTo>
                  <a:pt x="0" y="0"/>
                </a:moveTo>
                <a:lnTo>
                  <a:pt x="1549338" y="0"/>
                </a:lnTo>
                <a:lnTo>
                  <a:pt x="1549338" y="1549338"/>
                </a:lnTo>
                <a:lnTo>
                  <a:pt x="0" y="1549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9062" y="3012343"/>
            <a:ext cx="10063011" cy="293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PREDICTING OZONE NONATTAINMENT IN US COUNTIES WITH SUPERVISED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8320" y="7516707"/>
            <a:ext cx="7327041" cy="136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</a:pPr>
            <a:r>
              <a:rPr lang="en-US" sz="347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UE24CS352A – Machine Learning</a:t>
            </a:r>
          </a:p>
          <a:p>
            <a:pPr algn="l">
              <a:lnSpc>
                <a:spcPts val="3473"/>
              </a:lnSpc>
            </a:pPr>
          </a:p>
          <a:p>
            <a:pPr algn="l">
              <a:lnSpc>
                <a:spcPts val="347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967586" y="7998723"/>
            <a:ext cx="8545237" cy="164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3183" i="true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5E | Team 28</a:t>
            </a:r>
          </a:p>
          <a:p>
            <a:pPr algn="l">
              <a:lnSpc>
                <a:spcPts val="3183"/>
              </a:lnSpc>
            </a:pPr>
            <a:r>
              <a:rPr lang="en-US" sz="3183" i="true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Mueez Ahmed — PES2UG24CS286</a:t>
            </a:r>
          </a:p>
          <a:p>
            <a:pPr algn="l">
              <a:lnSpc>
                <a:spcPts val="3183"/>
              </a:lnSpc>
            </a:pPr>
            <a:r>
              <a:rPr lang="en-US" sz="3183" i="true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Merwyn Prince Lobo — PES2UG24CS276</a:t>
            </a:r>
          </a:p>
          <a:p>
            <a:pPr algn="l">
              <a:lnSpc>
                <a:spcPts val="318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5070" y="4599905"/>
            <a:ext cx="7493210" cy="7493210"/>
          </a:xfrm>
          <a:custGeom>
            <a:avLst/>
            <a:gdLst/>
            <a:ahLst/>
            <a:cxnLst/>
            <a:rect r="r" b="b" t="t" l="l"/>
            <a:pathLst>
              <a:path h="7493210" w="7493210">
                <a:moveTo>
                  <a:pt x="0" y="0"/>
                </a:moveTo>
                <a:lnTo>
                  <a:pt x="7493209" y="0"/>
                </a:lnTo>
                <a:lnTo>
                  <a:pt x="7493209" y="7493210"/>
                </a:lnTo>
                <a:lnTo>
                  <a:pt x="0" y="7493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5837" y="2294612"/>
            <a:ext cx="1811491" cy="1811491"/>
          </a:xfrm>
          <a:custGeom>
            <a:avLst/>
            <a:gdLst/>
            <a:ahLst/>
            <a:cxnLst/>
            <a:rect r="r" b="b" t="t" l="l"/>
            <a:pathLst>
              <a:path h="1811491" w="1811491">
                <a:moveTo>
                  <a:pt x="0" y="0"/>
                </a:moveTo>
                <a:lnTo>
                  <a:pt x="1811492" y="0"/>
                </a:lnTo>
                <a:lnTo>
                  <a:pt x="1811492" y="1811492"/>
                </a:lnTo>
                <a:lnTo>
                  <a:pt x="0" y="1811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132111" y="2285087"/>
            <a:ext cx="9632841" cy="0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015705" y="5376596"/>
            <a:ext cx="3965400" cy="4003329"/>
            <a:chOff x="0" y="0"/>
            <a:chExt cx="5287200" cy="53377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87137" cy="5337810"/>
            </a:xfrm>
            <a:custGeom>
              <a:avLst/>
              <a:gdLst/>
              <a:ahLst/>
              <a:cxnLst/>
              <a:rect r="r" b="b" t="t" l="l"/>
              <a:pathLst>
                <a:path h="5337810" w="5287137">
                  <a:moveTo>
                    <a:pt x="0" y="0"/>
                  </a:moveTo>
                  <a:lnTo>
                    <a:pt x="5287137" y="0"/>
                  </a:lnTo>
                  <a:lnTo>
                    <a:pt x="5287137" y="5337810"/>
                  </a:lnTo>
                  <a:lnTo>
                    <a:pt x="0" y="5337810"/>
                  </a:lnTo>
                  <a:close/>
                </a:path>
              </a:pathLst>
            </a:custGeom>
            <a:solidFill>
              <a:srgbClr val="301E6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55432" y="5403714"/>
            <a:ext cx="4227701" cy="4024122"/>
            <a:chOff x="0" y="0"/>
            <a:chExt cx="1113469" cy="1059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3469" cy="1059851"/>
            </a:xfrm>
            <a:custGeom>
              <a:avLst/>
              <a:gdLst/>
              <a:ahLst/>
              <a:cxnLst/>
              <a:rect r="r" b="b" t="t" l="l"/>
              <a:pathLst>
                <a:path h="1059851" w="1113469">
                  <a:moveTo>
                    <a:pt x="0" y="0"/>
                  </a:moveTo>
                  <a:lnTo>
                    <a:pt x="1113469" y="0"/>
                  </a:lnTo>
                  <a:lnTo>
                    <a:pt x="1113469" y="1059851"/>
                  </a:lnTo>
                  <a:lnTo>
                    <a:pt x="0" y="1059851"/>
                  </a:lnTo>
                  <a:close/>
                </a:path>
              </a:pathLst>
            </a:custGeom>
            <a:solidFill>
              <a:srgbClr val="5B70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113469" cy="114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Class 0</a:t>
              </a:r>
            </a:p>
            <a:p>
              <a:pPr algn="l">
                <a:lnSpc>
                  <a:spcPts val="4200"/>
                </a:lnSpc>
              </a:pPr>
            </a:p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Not labelled nonattainment under our processing rule</a:t>
              </a:r>
            </a:p>
            <a:p>
              <a:pPr algn="l">
                <a:lnSpc>
                  <a:spcPts val="4200"/>
                </a:lnSpc>
              </a:pP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577879" y="990600"/>
            <a:ext cx="999323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9"/>
              </a:lnSpc>
            </a:pPr>
            <a:r>
              <a:rPr lang="en-US" sz="399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PROBLEM: CLASSIFY COUNTIES AS NONATTAINMENT OR NOT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03784" y="2850456"/>
            <a:ext cx="10371039" cy="178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sz="25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Ground-level ozone is an important air-quality pollutant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sz="25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Counties are classified by compliance with the 2015 8-hour ozone NAAQS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sz="25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Goal: supervised models for a binary classification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58863" y="5700712"/>
            <a:ext cx="247903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1F1F1">
                        <a:alpha val="100000"/>
                      </a:srgbClr>
                    </a:gs>
                    <a:gs pos="100000">
                      <a:srgbClr val="F1F1F1">
                        <a:alpha val="100000"/>
                      </a:srgbClr>
                    </a:gs>
                  </a:gsLst>
                  <a:lin ang="0"/>
                </a:gradFill>
                <a:latin typeface="Arimo"/>
                <a:ea typeface="Arimo"/>
                <a:cs typeface="Arimo"/>
                <a:sym typeface="Arimo"/>
              </a:rPr>
              <a:t>Class 1</a:t>
            </a:r>
          </a:p>
          <a:p>
            <a:pPr algn="l">
              <a:lnSpc>
                <a:spcPts val="3602"/>
              </a:lnSpc>
            </a:pPr>
          </a:p>
          <a:p>
            <a:pPr algn="l">
              <a:lnSpc>
                <a:spcPts val="3602"/>
              </a:lnSpc>
            </a:pPr>
          </a:p>
          <a:p>
            <a:pPr algn="l">
              <a:lnSpc>
                <a:spcPts val="3602"/>
              </a:lnSpc>
            </a:pPr>
          </a:p>
          <a:p>
            <a:pPr algn="l">
              <a:lnSpc>
                <a:spcPts val="3602"/>
              </a:lnSpc>
            </a:pPr>
            <a:r>
              <a:rPr lang="en-US" sz="30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1F1F1">
                        <a:alpha val="100000"/>
                      </a:srgbClr>
                    </a:gs>
                    <a:gs pos="100000">
                      <a:srgbClr val="F1F1F1">
                        <a:alpha val="100000"/>
                      </a:srgbClr>
                    </a:gs>
                  </a:gsLst>
                  <a:lin ang="0"/>
                </a:gradFill>
                <a:latin typeface="Arimo"/>
                <a:ea typeface="Arimo"/>
                <a:cs typeface="Arimo"/>
                <a:sym typeface="Arimo"/>
              </a:rPr>
              <a:t>Nonattainment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8431" y="4907747"/>
            <a:ext cx="1250869" cy="1250869"/>
          </a:xfrm>
          <a:custGeom>
            <a:avLst/>
            <a:gdLst/>
            <a:ahLst/>
            <a:cxnLst/>
            <a:rect r="r" b="b" t="t" l="l"/>
            <a:pathLst>
              <a:path h="1250869" w="1250869">
                <a:moveTo>
                  <a:pt x="0" y="0"/>
                </a:moveTo>
                <a:lnTo>
                  <a:pt x="1250869" y="0"/>
                </a:lnTo>
                <a:lnTo>
                  <a:pt x="1250869" y="1250869"/>
                </a:lnTo>
                <a:lnTo>
                  <a:pt x="0" y="12508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7749" y="8053422"/>
            <a:ext cx="3461594" cy="3461594"/>
          </a:xfrm>
          <a:custGeom>
            <a:avLst/>
            <a:gdLst/>
            <a:ahLst/>
            <a:cxnLst/>
            <a:rect r="r" b="b" t="t" l="l"/>
            <a:pathLst>
              <a:path h="3461594" w="3461594">
                <a:moveTo>
                  <a:pt x="0" y="0"/>
                </a:moveTo>
                <a:lnTo>
                  <a:pt x="3461594" y="0"/>
                </a:lnTo>
                <a:lnTo>
                  <a:pt x="3461594" y="3461594"/>
                </a:lnTo>
                <a:lnTo>
                  <a:pt x="0" y="346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25324" y="5421059"/>
            <a:ext cx="8448381" cy="3617903"/>
            <a:chOff x="0" y="0"/>
            <a:chExt cx="2252163" cy="964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2163" cy="964458"/>
            </a:xfrm>
            <a:custGeom>
              <a:avLst/>
              <a:gdLst/>
              <a:ahLst/>
              <a:cxnLst/>
              <a:rect r="r" b="b" t="t" l="l"/>
              <a:pathLst>
                <a:path h="964458" w="2252163">
                  <a:moveTo>
                    <a:pt x="75143" y="0"/>
                  </a:moveTo>
                  <a:lnTo>
                    <a:pt x="2177020" y="0"/>
                  </a:lnTo>
                  <a:cubicBezTo>
                    <a:pt x="2196949" y="0"/>
                    <a:pt x="2216062" y="7917"/>
                    <a:pt x="2230154" y="22009"/>
                  </a:cubicBezTo>
                  <a:cubicBezTo>
                    <a:pt x="2244247" y="36101"/>
                    <a:pt x="2252163" y="55214"/>
                    <a:pt x="2252163" y="75143"/>
                  </a:cubicBezTo>
                  <a:lnTo>
                    <a:pt x="2252163" y="889315"/>
                  </a:lnTo>
                  <a:cubicBezTo>
                    <a:pt x="2252163" y="909244"/>
                    <a:pt x="2244247" y="928357"/>
                    <a:pt x="2230154" y="942449"/>
                  </a:cubicBezTo>
                  <a:cubicBezTo>
                    <a:pt x="2216062" y="956541"/>
                    <a:pt x="2196949" y="964458"/>
                    <a:pt x="2177020" y="964458"/>
                  </a:cubicBezTo>
                  <a:lnTo>
                    <a:pt x="75143" y="964458"/>
                  </a:lnTo>
                  <a:cubicBezTo>
                    <a:pt x="55214" y="964458"/>
                    <a:pt x="36101" y="956541"/>
                    <a:pt x="22009" y="942449"/>
                  </a:cubicBezTo>
                  <a:cubicBezTo>
                    <a:pt x="7917" y="928357"/>
                    <a:pt x="0" y="909244"/>
                    <a:pt x="0" y="889315"/>
                  </a:cubicBezTo>
                  <a:lnTo>
                    <a:pt x="0" y="75143"/>
                  </a:lnTo>
                  <a:cubicBezTo>
                    <a:pt x="0" y="55214"/>
                    <a:pt x="7917" y="36101"/>
                    <a:pt x="22009" y="22009"/>
                  </a:cubicBezTo>
                  <a:cubicBezTo>
                    <a:pt x="36101" y="7917"/>
                    <a:pt x="55214" y="0"/>
                    <a:pt x="75143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52163" cy="1021608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324" y="6401667"/>
            <a:ext cx="13070869" cy="250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1616" indent="-350808" lvl="1">
              <a:lnSpc>
                <a:spcPts val="3249"/>
              </a:lnSpc>
              <a:buFont typeface="Arial"/>
              <a:buChar char="•"/>
            </a:pPr>
            <a:r>
              <a:rPr lang="en-US" sz="3249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Number of daily ozone records</a:t>
            </a:r>
          </a:p>
          <a:p>
            <a:pPr algn="just" marL="701616" indent="-350808" lvl="1">
              <a:lnSpc>
                <a:spcPts val="3249"/>
              </a:lnSpc>
              <a:buFont typeface="Arial"/>
              <a:buChar char="•"/>
            </a:pPr>
            <a:r>
              <a:rPr lang="en-US" sz="3249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Mean daily ozone concentration</a:t>
            </a:r>
          </a:p>
          <a:p>
            <a:pPr algn="just" marL="701616" indent="-350808" lvl="1">
              <a:lnSpc>
                <a:spcPts val="3249"/>
              </a:lnSpc>
              <a:buFont typeface="Arial"/>
              <a:buChar char="•"/>
            </a:pPr>
            <a:r>
              <a:rPr lang="en-US" sz="3249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Maximum daily ozone concentration</a:t>
            </a:r>
          </a:p>
          <a:p>
            <a:pPr algn="just" marL="701616" indent="-350808" lvl="1">
              <a:lnSpc>
                <a:spcPts val="3249"/>
              </a:lnSpc>
              <a:buFont typeface="Arial"/>
              <a:buChar char="•"/>
            </a:pPr>
            <a:r>
              <a:rPr lang="en-US" sz="3249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Mean daily AQI</a:t>
            </a:r>
          </a:p>
          <a:p>
            <a:pPr algn="just" marL="701616" indent="-350808" lvl="1">
              <a:lnSpc>
                <a:spcPts val="3249"/>
              </a:lnSpc>
              <a:buFont typeface="Arial"/>
              <a:buChar char="•"/>
            </a:pPr>
            <a:r>
              <a:rPr lang="en-US" sz="3249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Mean observation percentage</a:t>
            </a:r>
          </a:p>
          <a:p>
            <a:pPr algn="just">
              <a:lnSpc>
                <a:spcPts val="324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88742" y="1028700"/>
            <a:ext cx="665937" cy="385033"/>
          </a:xfrm>
          <a:custGeom>
            <a:avLst/>
            <a:gdLst/>
            <a:ahLst/>
            <a:cxnLst/>
            <a:rect r="r" b="b" t="t" l="l"/>
            <a:pathLst>
              <a:path h="385033" w="665937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808675" y="1202166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85650" y="4907747"/>
            <a:ext cx="7406276" cy="5302149"/>
            <a:chOff x="0" y="0"/>
            <a:chExt cx="1950624" cy="13964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624" cy="1396451"/>
            </a:xfrm>
            <a:custGeom>
              <a:avLst/>
              <a:gdLst/>
              <a:ahLst/>
              <a:cxnLst/>
              <a:rect r="r" b="b" t="t" l="l"/>
              <a:pathLst>
                <a:path h="1396451" w="1950624">
                  <a:moveTo>
                    <a:pt x="0" y="0"/>
                  </a:moveTo>
                  <a:lnTo>
                    <a:pt x="1950624" y="0"/>
                  </a:lnTo>
                  <a:lnTo>
                    <a:pt x="1950624" y="1396451"/>
                  </a:lnTo>
                  <a:lnTo>
                    <a:pt x="0" y="13964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950624" cy="1453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88742" y="2113018"/>
            <a:ext cx="15241903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755 COUNTY RECORDS, FIVE INPUT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742" y="3738315"/>
            <a:ext cx="1306115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ources: US EPA AirData (daily ozone, 2025, parameter code 44201) and EPA Green Book (county status)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46642" y="5306759"/>
            <a:ext cx="15241903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87208" y="4943793"/>
            <a:ext cx="391358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755 t</a:t>
            </a: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otal; 603 Class 0, 152 Class 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5650" y="5038775"/>
            <a:ext cx="7376355" cy="4794758"/>
            <a:chOff x="0" y="0"/>
            <a:chExt cx="10167684" cy="660916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167747" cy="6609207"/>
            </a:xfrm>
            <a:custGeom>
              <a:avLst/>
              <a:gdLst/>
              <a:ahLst/>
              <a:cxnLst/>
              <a:rect r="r" b="b" t="t" l="l"/>
              <a:pathLst>
                <a:path h="6609207" w="10167747">
                  <a:moveTo>
                    <a:pt x="0" y="0"/>
                  </a:moveTo>
                  <a:lnTo>
                    <a:pt x="10167747" y="0"/>
                  </a:lnTo>
                  <a:lnTo>
                    <a:pt x="10167747" y="6609207"/>
                  </a:lnTo>
                  <a:lnTo>
                    <a:pt x="0" y="6609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" t="0" r="-15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1491" y="9258300"/>
            <a:ext cx="5020845" cy="5020845"/>
          </a:xfrm>
          <a:custGeom>
            <a:avLst/>
            <a:gdLst/>
            <a:ahLst/>
            <a:cxnLst/>
            <a:rect r="r" b="b" t="t" l="l"/>
            <a:pathLst>
              <a:path h="5020845" w="5020845">
                <a:moveTo>
                  <a:pt x="0" y="0"/>
                </a:moveTo>
                <a:lnTo>
                  <a:pt x="5020845" y="0"/>
                </a:lnTo>
                <a:lnTo>
                  <a:pt x="5020845" y="5020845"/>
                </a:lnTo>
                <a:lnTo>
                  <a:pt x="0" y="5020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84027" y="4498255"/>
            <a:ext cx="2774206" cy="2774206"/>
          </a:xfrm>
          <a:custGeom>
            <a:avLst/>
            <a:gdLst/>
            <a:ahLst/>
            <a:cxnLst/>
            <a:rect r="r" b="b" t="t" l="l"/>
            <a:pathLst>
              <a:path h="2774206" w="2774206">
                <a:moveTo>
                  <a:pt x="0" y="0"/>
                </a:moveTo>
                <a:lnTo>
                  <a:pt x="2774205" y="0"/>
                </a:lnTo>
                <a:lnTo>
                  <a:pt x="2774205" y="2774206"/>
                </a:lnTo>
                <a:lnTo>
                  <a:pt x="0" y="2774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8503" y="3431798"/>
            <a:ext cx="8306167" cy="1727736"/>
            <a:chOff x="0" y="0"/>
            <a:chExt cx="2214252" cy="4605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4252" cy="460578"/>
            </a:xfrm>
            <a:custGeom>
              <a:avLst/>
              <a:gdLst/>
              <a:ahLst/>
              <a:cxnLst/>
              <a:rect r="r" b="b" t="t" l="l"/>
              <a:pathLst>
                <a:path h="460578" w="2214252">
                  <a:moveTo>
                    <a:pt x="76430" y="0"/>
                  </a:moveTo>
                  <a:lnTo>
                    <a:pt x="2137822" y="0"/>
                  </a:lnTo>
                  <a:cubicBezTo>
                    <a:pt x="2158093" y="0"/>
                    <a:pt x="2177533" y="8052"/>
                    <a:pt x="2191866" y="22386"/>
                  </a:cubicBezTo>
                  <a:cubicBezTo>
                    <a:pt x="2206200" y="36719"/>
                    <a:pt x="2214252" y="56159"/>
                    <a:pt x="2214252" y="76430"/>
                  </a:cubicBezTo>
                  <a:lnTo>
                    <a:pt x="2214252" y="384149"/>
                  </a:lnTo>
                  <a:cubicBezTo>
                    <a:pt x="2214252" y="404419"/>
                    <a:pt x="2206200" y="423859"/>
                    <a:pt x="2191866" y="438193"/>
                  </a:cubicBezTo>
                  <a:cubicBezTo>
                    <a:pt x="2177533" y="452526"/>
                    <a:pt x="2158093" y="460578"/>
                    <a:pt x="2137822" y="460578"/>
                  </a:cubicBezTo>
                  <a:lnTo>
                    <a:pt x="76430" y="460578"/>
                  </a:lnTo>
                  <a:cubicBezTo>
                    <a:pt x="56159" y="460578"/>
                    <a:pt x="36719" y="452526"/>
                    <a:pt x="22386" y="438193"/>
                  </a:cubicBezTo>
                  <a:cubicBezTo>
                    <a:pt x="8052" y="423859"/>
                    <a:pt x="0" y="404419"/>
                    <a:pt x="0" y="384149"/>
                  </a:cubicBezTo>
                  <a:lnTo>
                    <a:pt x="0" y="76430"/>
                  </a:lnTo>
                  <a:cubicBezTo>
                    <a:pt x="0" y="56159"/>
                    <a:pt x="8052" y="36719"/>
                    <a:pt x="22386" y="22386"/>
                  </a:cubicBezTo>
                  <a:cubicBezTo>
                    <a:pt x="36719" y="8052"/>
                    <a:pt x="56159" y="0"/>
                    <a:pt x="76430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14252" cy="517728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813745" y="3415764"/>
            <a:ext cx="8306167" cy="1727736"/>
            <a:chOff x="0" y="0"/>
            <a:chExt cx="2214252" cy="4605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4252" cy="460578"/>
            </a:xfrm>
            <a:custGeom>
              <a:avLst/>
              <a:gdLst/>
              <a:ahLst/>
              <a:cxnLst/>
              <a:rect r="r" b="b" t="t" l="l"/>
              <a:pathLst>
                <a:path h="460578" w="2214252">
                  <a:moveTo>
                    <a:pt x="76430" y="0"/>
                  </a:moveTo>
                  <a:lnTo>
                    <a:pt x="2137822" y="0"/>
                  </a:lnTo>
                  <a:cubicBezTo>
                    <a:pt x="2158093" y="0"/>
                    <a:pt x="2177533" y="8052"/>
                    <a:pt x="2191866" y="22386"/>
                  </a:cubicBezTo>
                  <a:cubicBezTo>
                    <a:pt x="2206200" y="36719"/>
                    <a:pt x="2214252" y="56159"/>
                    <a:pt x="2214252" y="76430"/>
                  </a:cubicBezTo>
                  <a:lnTo>
                    <a:pt x="2214252" y="384149"/>
                  </a:lnTo>
                  <a:cubicBezTo>
                    <a:pt x="2214252" y="404419"/>
                    <a:pt x="2206200" y="423859"/>
                    <a:pt x="2191866" y="438193"/>
                  </a:cubicBezTo>
                  <a:cubicBezTo>
                    <a:pt x="2177533" y="452526"/>
                    <a:pt x="2158093" y="460578"/>
                    <a:pt x="2137822" y="460578"/>
                  </a:cubicBezTo>
                  <a:lnTo>
                    <a:pt x="76430" y="460578"/>
                  </a:lnTo>
                  <a:cubicBezTo>
                    <a:pt x="56159" y="460578"/>
                    <a:pt x="36719" y="452526"/>
                    <a:pt x="22386" y="438193"/>
                  </a:cubicBezTo>
                  <a:cubicBezTo>
                    <a:pt x="8052" y="423859"/>
                    <a:pt x="0" y="404419"/>
                    <a:pt x="0" y="384149"/>
                  </a:cubicBezTo>
                  <a:lnTo>
                    <a:pt x="0" y="76430"/>
                  </a:lnTo>
                  <a:cubicBezTo>
                    <a:pt x="0" y="56159"/>
                    <a:pt x="8052" y="36719"/>
                    <a:pt x="22386" y="22386"/>
                  </a:cubicBezTo>
                  <a:cubicBezTo>
                    <a:pt x="36719" y="8052"/>
                    <a:pt x="56159" y="0"/>
                    <a:pt x="76430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14252" cy="517728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8830" y="6345049"/>
            <a:ext cx="8306167" cy="1727736"/>
            <a:chOff x="0" y="0"/>
            <a:chExt cx="2214252" cy="4605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4252" cy="460578"/>
            </a:xfrm>
            <a:custGeom>
              <a:avLst/>
              <a:gdLst/>
              <a:ahLst/>
              <a:cxnLst/>
              <a:rect r="r" b="b" t="t" l="l"/>
              <a:pathLst>
                <a:path h="460578" w="2214252">
                  <a:moveTo>
                    <a:pt x="76430" y="0"/>
                  </a:moveTo>
                  <a:lnTo>
                    <a:pt x="2137822" y="0"/>
                  </a:lnTo>
                  <a:cubicBezTo>
                    <a:pt x="2158093" y="0"/>
                    <a:pt x="2177533" y="8052"/>
                    <a:pt x="2191866" y="22386"/>
                  </a:cubicBezTo>
                  <a:cubicBezTo>
                    <a:pt x="2206200" y="36719"/>
                    <a:pt x="2214252" y="56159"/>
                    <a:pt x="2214252" y="76430"/>
                  </a:cubicBezTo>
                  <a:lnTo>
                    <a:pt x="2214252" y="384149"/>
                  </a:lnTo>
                  <a:cubicBezTo>
                    <a:pt x="2214252" y="404419"/>
                    <a:pt x="2206200" y="423859"/>
                    <a:pt x="2191866" y="438193"/>
                  </a:cubicBezTo>
                  <a:cubicBezTo>
                    <a:pt x="2177533" y="452526"/>
                    <a:pt x="2158093" y="460578"/>
                    <a:pt x="2137822" y="460578"/>
                  </a:cubicBezTo>
                  <a:lnTo>
                    <a:pt x="76430" y="460578"/>
                  </a:lnTo>
                  <a:cubicBezTo>
                    <a:pt x="56159" y="460578"/>
                    <a:pt x="36719" y="452526"/>
                    <a:pt x="22386" y="438193"/>
                  </a:cubicBezTo>
                  <a:cubicBezTo>
                    <a:pt x="8052" y="423859"/>
                    <a:pt x="0" y="404419"/>
                    <a:pt x="0" y="384149"/>
                  </a:cubicBezTo>
                  <a:lnTo>
                    <a:pt x="0" y="76430"/>
                  </a:lnTo>
                  <a:cubicBezTo>
                    <a:pt x="0" y="56159"/>
                    <a:pt x="8052" y="36719"/>
                    <a:pt x="22386" y="22386"/>
                  </a:cubicBezTo>
                  <a:cubicBezTo>
                    <a:pt x="36719" y="8052"/>
                    <a:pt x="56159" y="0"/>
                    <a:pt x="76430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214252" cy="517728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3718" y="3920446"/>
            <a:ext cx="788030" cy="78803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98961" y="3887333"/>
            <a:ext cx="788030" cy="78803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4045" y="6792724"/>
            <a:ext cx="788030" cy="78803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77323" y="1224695"/>
            <a:ext cx="1630670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METHODOLOGY: FROM EPA DATA TO EVALUATED MODELS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80926" y="4002856"/>
            <a:ext cx="6080958" cy="60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EPA Data Collection</a:t>
            </a:r>
          </a:p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AirData + Green Book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83068" y="3877054"/>
            <a:ext cx="6080958" cy="88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</a:p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County aggregation, merging and label construction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01491" y="6788308"/>
            <a:ext cx="6080958" cy="88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Model Training</a:t>
            </a:r>
          </a:p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Logistic Regression, Decision Tree, Random Forest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1783" y="4161724"/>
            <a:ext cx="411900" cy="32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7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87026" y="4126896"/>
            <a:ext cx="411900" cy="32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7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2110" y="7030849"/>
            <a:ext cx="411900" cy="32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7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60522" y="572287"/>
            <a:ext cx="665937" cy="385033"/>
          </a:xfrm>
          <a:custGeom>
            <a:avLst/>
            <a:gdLst/>
            <a:ahLst/>
            <a:cxnLst/>
            <a:rect r="r" b="b" t="t" l="l"/>
            <a:pathLst>
              <a:path h="385033" w="665937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1178544" y="745753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8953133" y="6322871"/>
            <a:ext cx="8306167" cy="1727736"/>
            <a:chOff x="0" y="0"/>
            <a:chExt cx="2214252" cy="4605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4252" cy="460578"/>
            </a:xfrm>
            <a:custGeom>
              <a:avLst/>
              <a:gdLst/>
              <a:ahLst/>
              <a:cxnLst/>
              <a:rect r="r" b="b" t="t" l="l"/>
              <a:pathLst>
                <a:path h="460578" w="2214252">
                  <a:moveTo>
                    <a:pt x="76430" y="0"/>
                  </a:moveTo>
                  <a:lnTo>
                    <a:pt x="2137822" y="0"/>
                  </a:lnTo>
                  <a:cubicBezTo>
                    <a:pt x="2158093" y="0"/>
                    <a:pt x="2177533" y="8052"/>
                    <a:pt x="2191866" y="22386"/>
                  </a:cubicBezTo>
                  <a:cubicBezTo>
                    <a:pt x="2206200" y="36719"/>
                    <a:pt x="2214252" y="56159"/>
                    <a:pt x="2214252" y="76430"/>
                  </a:cubicBezTo>
                  <a:lnTo>
                    <a:pt x="2214252" y="384149"/>
                  </a:lnTo>
                  <a:cubicBezTo>
                    <a:pt x="2214252" y="404419"/>
                    <a:pt x="2206200" y="423859"/>
                    <a:pt x="2191866" y="438193"/>
                  </a:cubicBezTo>
                  <a:cubicBezTo>
                    <a:pt x="2177533" y="452526"/>
                    <a:pt x="2158093" y="460578"/>
                    <a:pt x="2137822" y="460578"/>
                  </a:cubicBezTo>
                  <a:lnTo>
                    <a:pt x="76430" y="460578"/>
                  </a:lnTo>
                  <a:cubicBezTo>
                    <a:pt x="56159" y="460578"/>
                    <a:pt x="36719" y="452526"/>
                    <a:pt x="22386" y="438193"/>
                  </a:cubicBezTo>
                  <a:cubicBezTo>
                    <a:pt x="8052" y="423859"/>
                    <a:pt x="0" y="404419"/>
                    <a:pt x="0" y="384149"/>
                  </a:cubicBezTo>
                  <a:lnTo>
                    <a:pt x="0" y="76430"/>
                  </a:lnTo>
                  <a:cubicBezTo>
                    <a:pt x="0" y="56159"/>
                    <a:pt x="8052" y="36719"/>
                    <a:pt x="22386" y="22386"/>
                  </a:cubicBezTo>
                  <a:cubicBezTo>
                    <a:pt x="36719" y="8052"/>
                    <a:pt x="56159" y="0"/>
                    <a:pt x="76430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214252" cy="517728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38348" y="6794439"/>
            <a:ext cx="788030" cy="78803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74681">
                    <a:alpha val="100000"/>
                  </a:srgbClr>
                </a:gs>
                <a:gs pos="100000">
                  <a:srgbClr val="1F134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45453" y="6754056"/>
            <a:ext cx="6080958" cy="88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Model Evaluation</a:t>
            </a:r>
          </a:p>
          <a:p>
            <a:pPr algn="l">
              <a:lnSpc>
                <a:spcPts val="2276"/>
              </a:lnSpc>
            </a:pPr>
            <a:r>
              <a:rPr lang="en-US" sz="2276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Stratified 5-fold cross-validation and performance metrics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26413" y="7034002"/>
            <a:ext cx="411900" cy="32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7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79766" y="3378882"/>
            <a:ext cx="5216468" cy="5216468"/>
          </a:xfrm>
          <a:custGeom>
            <a:avLst/>
            <a:gdLst/>
            <a:ahLst/>
            <a:cxnLst/>
            <a:rect r="r" b="b" t="t" l="l"/>
            <a:pathLst>
              <a:path h="5216468" w="5216468">
                <a:moveTo>
                  <a:pt x="0" y="0"/>
                </a:moveTo>
                <a:lnTo>
                  <a:pt x="5216468" y="0"/>
                </a:lnTo>
                <a:lnTo>
                  <a:pt x="5216468" y="5216468"/>
                </a:lnTo>
                <a:lnTo>
                  <a:pt x="0" y="52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23048" y="2112435"/>
            <a:ext cx="13198998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THREE MODELS, FOUR METRICS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23048" y="1514922"/>
            <a:ext cx="665937" cy="385033"/>
          </a:xfrm>
          <a:custGeom>
            <a:avLst/>
            <a:gdLst/>
            <a:ahLst/>
            <a:cxnLst/>
            <a:rect r="r" b="b" t="t" l="l"/>
            <a:pathLst>
              <a:path h="385033" w="665937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965365" y="1702676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5095" y="3797341"/>
            <a:ext cx="5033010" cy="38129"/>
            <a:chOff x="0" y="0"/>
            <a:chExt cx="6710680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10680" cy="50800"/>
            </a:xfrm>
            <a:custGeom>
              <a:avLst/>
              <a:gdLst/>
              <a:ahLst/>
              <a:cxnLst/>
              <a:rect r="r" b="b" t="t" l="l"/>
              <a:pathLst>
                <a:path h="50800" w="6710680">
                  <a:moveTo>
                    <a:pt x="0" y="0"/>
                  </a:moveTo>
                  <a:lnTo>
                    <a:pt x="6710680" y="0"/>
                  </a:lnTo>
                  <a:lnTo>
                    <a:pt x="6710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7813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58253" y="4159587"/>
            <a:ext cx="33261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Logistic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8253" y="4812592"/>
            <a:ext cx="4346686" cy="886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Linear model; standardized inputs, class weighting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34420" y="3797341"/>
            <a:ext cx="5033010" cy="38129"/>
            <a:chOff x="0" y="0"/>
            <a:chExt cx="6710680" cy="508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10680" cy="50800"/>
            </a:xfrm>
            <a:custGeom>
              <a:avLst/>
              <a:gdLst/>
              <a:ahLst/>
              <a:cxnLst/>
              <a:rect r="r" b="b" t="t" l="l"/>
              <a:pathLst>
                <a:path h="50800" w="6710680">
                  <a:moveTo>
                    <a:pt x="0" y="0"/>
                  </a:moveTo>
                  <a:lnTo>
                    <a:pt x="6710680" y="0"/>
                  </a:lnTo>
                  <a:lnTo>
                    <a:pt x="6710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7813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977577" y="4159587"/>
            <a:ext cx="235133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Decision Tree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77577" y="4812592"/>
            <a:ext cx="4689843" cy="43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Feature-based decision rules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353744" y="3797341"/>
            <a:ext cx="5033010" cy="38129"/>
            <a:chOff x="0" y="0"/>
            <a:chExt cx="6710680" cy="508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10680" cy="50800"/>
            </a:xfrm>
            <a:custGeom>
              <a:avLst/>
              <a:gdLst/>
              <a:ahLst/>
              <a:cxnLst/>
              <a:rect r="r" b="b" t="t" l="l"/>
              <a:pathLst>
                <a:path h="50800" w="6710680">
                  <a:moveTo>
                    <a:pt x="0" y="0"/>
                  </a:moveTo>
                  <a:lnTo>
                    <a:pt x="6710680" y="0"/>
                  </a:lnTo>
                  <a:lnTo>
                    <a:pt x="6710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7813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696901" y="4159587"/>
            <a:ext cx="4346686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Random Forest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96901" y="4812592"/>
            <a:ext cx="4689843" cy="51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200 trees, class weighting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5095" y="7786373"/>
            <a:ext cx="16471659" cy="1593704"/>
            <a:chOff x="0" y="0"/>
            <a:chExt cx="21962212" cy="21249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62238" cy="2124964"/>
            </a:xfrm>
            <a:custGeom>
              <a:avLst/>
              <a:gdLst/>
              <a:ahLst/>
              <a:cxnLst/>
              <a:rect r="r" b="b" t="t" l="l"/>
              <a:pathLst>
                <a:path h="2124964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2124964"/>
                  </a:lnTo>
                  <a:lnTo>
                    <a:pt x="0" y="212496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58253" y="8072390"/>
            <a:ext cx="15785335" cy="96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5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Metrics:</a:t>
            </a: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accuracy, precision, recall, F1-score</a:t>
            </a:r>
          </a:p>
          <a:p>
            <a:pPr algn="l">
              <a:lnSpc>
                <a:spcPts val="3583"/>
              </a:lnSpc>
            </a:pP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Last three for the nonattainment class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4744" y="4603422"/>
            <a:ext cx="2445367" cy="2445367"/>
          </a:xfrm>
          <a:custGeom>
            <a:avLst/>
            <a:gdLst/>
            <a:ahLst/>
            <a:cxnLst/>
            <a:rect r="r" b="b" t="t" l="l"/>
            <a:pathLst>
              <a:path h="2445367" w="2445367">
                <a:moveTo>
                  <a:pt x="0" y="0"/>
                </a:moveTo>
                <a:lnTo>
                  <a:pt x="2445367" y="0"/>
                </a:lnTo>
                <a:lnTo>
                  <a:pt x="2445367" y="2445367"/>
                </a:lnTo>
                <a:lnTo>
                  <a:pt x="0" y="244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063" y="270495"/>
            <a:ext cx="665937" cy="385033"/>
          </a:xfrm>
          <a:custGeom>
            <a:avLst/>
            <a:gdLst/>
            <a:ahLst/>
            <a:cxnLst/>
            <a:rect r="r" b="b" t="t" l="l"/>
            <a:pathLst>
              <a:path h="385033" w="665937">
                <a:moveTo>
                  <a:pt x="0" y="0"/>
                </a:moveTo>
                <a:lnTo>
                  <a:pt x="665937" y="0"/>
                </a:lnTo>
                <a:lnTo>
                  <a:pt x="665937" y="385032"/>
                </a:lnTo>
                <a:lnTo>
                  <a:pt x="0" y="385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801380" y="458249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92031" y="990600"/>
            <a:ext cx="1524190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RANDOM FOREST LEADS ON ACCURACY AND F1; LOGISTIC REGRESSION ON RECALL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576627" y="5955530"/>
            <a:ext cx="6661538" cy="6661538"/>
          </a:xfrm>
          <a:custGeom>
            <a:avLst/>
            <a:gdLst/>
            <a:ahLst/>
            <a:cxnLst/>
            <a:rect r="r" b="b" t="t" l="l"/>
            <a:pathLst>
              <a:path h="6661538" w="6661538">
                <a:moveTo>
                  <a:pt x="0" y="0"/>
                </a:moveTo>
                <a:lnTo>
                  <a:pt x="6661539" y="0"/>
                </a:lnTo>
                <a:lnTo>
                  <a:pt x="6661539" y="6661538"/>
                </a:lnTo>
                <a:lnTo>
                  <a:pt x="0" y="6661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07469" y="4773753"/>
            <a:ext cx="1110155" cy="1110155"/>
          </a:xfrm>
          <a:custGeom>
            <a:avLst/>
            <a:gdLst/>
            <a:ahLst/>
            <a:cxnLst/>
            <a:rect r="r" b="b" t="t" l="l"/>
            <a:pathLst>
              <a:path h="1110155" w="1110155">
                <a:moveTo>
                  <a:pt x="0" y="0"/>
                </a:moveTo>
                <a:lnTo>
                  <a:pt x="1110155" y="0"/>
                </a:lnTo>
                <a:lnTo>
                  <a:pt x="1110155" y="1110155"/>
                </a:lnTo>
                <a:lnTo>
                  <a:pt x="0" y="1110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5095" y="3070965"/>
            <a:ext cx="17386744" cy="34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0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Mean scores from stratified 5-fold cross-validation.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15092" y="3897579"/>
          <a:ext cx="16395809" cy="2974421"/>
        </p:xfrm>
        <a:graphic>
          <a:graphicData uri="http://schemas.openxmlformats.org/drawingml/2006/table">
            <a:tbl>
              <a:tblPr/>
              <a:tblGrid>
                <a:gridCol w="5224083"/>
                <a:gridCol w="2792822"/>
                <a:gridCol w="2792822"/>
                <a:gridCol w="2792822"/>
                <a:gridCol w="2793262"/>
              </a:tblGrid>
              <a:tr h="7074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Accuracy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Precision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Recall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F1-score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4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Logistic Regression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0.781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0.476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0.770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0.588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09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Decision Tree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0.818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0.554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0.533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0.542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Random Forest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0.871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0.737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>
                          <a:gradFill>
                            <a:gsLst>
                              <a:gs pos="0">
                                <a:srgbClr val="FFFFFF">
                                  <a:alpha val="100000"/>
                                </a:srgbClr>
                              </a:gs>
                              <a:gs pos="50000">
                                <a:srgbClr val="F1F1F1">
                                  <a:alpha val="100000"/>
                                </a:srgbClr>
                              </a:gs>
                              <a:gs pos="100000">
                                <a:srgbClr val="F1F1F1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0.566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0.638</a:t>
                      </a:r>
                      <a:endParaRPr lang="en-US" sz="1100"/>
                    </a:p>
                  </a:txBody>
                  <a:tcPr marL="161921" marR="161921" marT="161921" marB="161921" anchor="ctr">
                    <a:lnL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781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4E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23C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915095" y="7030212"/>
            <a:ext cx="17386744" cy="34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0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Highlighted cells: best score per column.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095" y="7799670"/>
            <a:ext cx="16471659" cy="158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sz="255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1F1F1">
                        <a:alpha val="100000"/>
                      </a:srgbClr>
                    </a:gs>
                    <a:gs pos="100000">
                      <a:srgbClr val="F1F1F1">
                        <a:alpha val="100000"/>
                      </a:srgbClr>
                    </a:gs>
                  </a:gsLst>
                  <a:lin ang="0"/>
                </a:gradFill>
                <a:latin typeface="Arimo"/>
                <a:ea typeface="Arimo"/>
                <a:cs typeface="Arimo"/>
                <a:sym typeface="Arimo"/>
              </a:rPr>
              <a:t>Random Forest: highest accuracy and F1-score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sz="255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1F1F1">
                        <a:alpha val="100000"/>
                      </a:srgbClr>
                    </a:gs>
                    <a:gs pos="100000">
                      <a:srgbClr val="F1F1F1">
                        <a:alpha val="100000"/>
                      </a:srgbClr>
                    </a:gs>
                  </a:gsLst>
                  <a:lin ang="0"/>
                </a:gradFill>
                <a:latin typeface="Arimo"/>
                <a:ea typeface="Arimo"/>
                <a:cs typeface="Arimo"/>
                <a:sym typeface="Arimo"/>
              </a:rPr>
              <a:t>Logistic Regression: highest nonattainment recall</a:t>
            </a:r>
          </a:p>
          <a:p>
            <a:pPr algn="l" marL="462207" indent="-231104" lvl="1">
              <a:lnSpc>
                <a:spcPts val="3583"/>
              </a:lnSpc>
              <a:buFont typeface="Arial"/>
              <a:buChar char="•"/>
            </a:pPr>
            <a:r>
              <a:rPr lang="en-US" sz="255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1F1F1">
                        <a:alpha val="100000"/>
                      </a:srgbClr>
                    </a:gs>
                    <a:gs pos="100000">
                      <a:srgbClr val="F1F1F1">
                        <a:alpha val="100000"/>
                      </a:srgbClr>
                    </a:gs>
                  </a:gsLst>
                  <a:lin ang="0"/>
                </a:gradFill>
                <a:latin typeface="Arimo"/>
                <a:ea typeface="Arimo"/>
                <a:cs typeface="Arimo"/>
                <a:sym typeface="Arimo"/>
              </a:rPr>
              <a:t>Models trade off finding nonattainment counties against avoiding false positives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64157" y="3290352"/>
            <a:ext cx="5923179" cy="5923179"/>
          </a:xfrm>
          <a:custGeom>
            <a:avLst/>
            <a:gdLst/>
            <a:ahLst/>
            <a:cxnLst/>
            <a:rect r="r" b="b" t="t" l="l"/>
            <a:pathLst>
              <a:path h="5923179" w="5923179">
                <a:moveTo>
                  <a:pt x="0" y="0"/>
                </a:moveTo>
                <a:lnTo>
                  <a:pt x="5923179" y="0"/>
                </a:lnTo>
                <a:lnTo>
                  <a:pt x="5923179" y="5923179"/>
                </a:lnTo>
                <a:lnTo>
                  <a:pt x="0" y="5923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05326" y="3706133"/>
            <a:ext cx="6882010" cy="361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563"/>
              </a:lnSpc>
            </a:pPr>
            <a:r>
              <a:rPr lang="en-US" sz="12563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643282" y="7308888"/>
            <a:ext cx="1353433" cy="1353433"/>
          </a:xfrm>
          <a:custGeom>
            <a:avLst/>
            <a:gdLst/>
            <a:ahLst/>
            <a:cxnLst/>
            <a:rect r="r" b="b" t="t" l="l"/>
            <a:pathLst>
              <a:path h="1353433" w="1353433">
                <a:moveTo>
                  <a:pt x="0" y="0"/>
                </a:moveTo>
                <a:lnTo>
                  <a:pt x="1353434" y="0"/>
                </a:lnTo>
                <a:lnTo>
                  <a:pt x="1353434" y="1353434"/>
                </a:lnTo>
                <a:lnTo>
                  <a:pt x="0" y="1353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3048" y="1679933"/>
            <a:ext cx="665937" cy="385033"/>
          </a:xfrm>
          <a:custGeom>
            <a:avLst/>
            <a:gdLst/>
            <a:ahLst/>
            <a:cxnLst/>
            <a:rect r="r" b="b" t="t" l="l"/>
            <a:pathLst>
              <a:path h="385033" w="665937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2965365" y="1867687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DAHXyd6l3gM</dc:identifier>
  <dcterms:modified xsi:type="dcterms:W3CDTF">2011-08-01T06:04:30Z</dcterms:modified>
  <cp:revision>1</cp:revision>
  <dc:title>Purple Gradient Project Plan Presentation </dc:title>
</cp:coreProperties>
</file>