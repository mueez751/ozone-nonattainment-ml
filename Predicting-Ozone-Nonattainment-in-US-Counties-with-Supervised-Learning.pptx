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Albert Sans"/>
      <p:regular r:id="rId201314"/>
    </p:embeddedFont>
    <p:embeddedFont>
      <p:font typeface="Albert Sans SemiBold"/>
      <p:regular r:id="rId201315"/>
    </p:embeddedFont>
    <p:embeddedFont>
      <p:font typeface="Albert Sans Bold"/>
      <p:regular r:id="rId201316"/>
    </p:embeddedFont>
    <p:embeddedFont>
      <p:font typeface="Hedvig Letters Serif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EA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EA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182" y="685800"/>
            <a:ext cx="7746806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81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9473" y="1727795"/>
            <a:ext cx="7010225" cy="1453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600" spc="-43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Predicting Ozone Nonattainment in US Counties with Supervised Learning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9473" y="3449836"/>
            <a:ext cx="609585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sp>
        <p:nvSpPr>
          <p:cNvPr id="5" name="Text 3"/>
          <p:cNvSpPr/>
          <p:nvPr/>
        </p:nvSpPr>
        <p:spPr>
          <a:xfrm>
            <a:off x="1079473" y="3727648"/>
            <a:ext cx="7010225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UE24CS352A – Machine Learning</a:t>
            </a:r>
            <a:endParaRPr lang="en-US" sz="1700" dirty="0"/>
          </a:p>
          <a:p>
            <a:pPr algn="l" indent="0" marL="0">
              <a:lnSpc>
                <a:spcPct val="117000"/>
              </a:lnSpc>
              <a:spcAft>
                <a:spcPts val="1500"/>
              </a:spcAft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Section 5E | Team 28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Mueez Ahmed — PES2UG24CS286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Merwyn Prince Lobo — PES2UG24CS276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06389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483" y="609600"/>
            <a:ext cx="6908627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Problem: classify counties as nonattainment or not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673483" y="1793280"/>
            <a:ext cx="609585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sp>
        <p:nvSpPr>
          <p:cNvPr id="5" name="Text 2"/>
          <p:cNvSpPr/>
          <p:nvPr/>
        </p:nvSpPr>
        <p:spPr>
          <a:xfrm>
            <a:off x="4673483" y="2071092"/>
            <a:ext cx="6908627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Ground-level ozone is an important air-quality pollutant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Counties are classified by compliance with the 2015 8-hour ozone NAAQS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Goal: supervised models for a binary classification problem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4673483" y="3581598"/>
            <a:ext cx="2641534" cy="2666802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7" name="Text 4"/>
          <p:cNvSpPr/>
          <p:nvPr/>
        </p:nvSpPr>
        <p:spPr>
          <a:xfrm>
            <a:off x="4902077" y="3810198"/>
            <a:ext cx="218434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Class 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902077" y="4270573"/>
            <a:ext cx="241294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Nonattainment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619710" y="3581598"/>
            <a:ext cx="3962400" cy="2666802"/>
          </a:xfrm>
          <a:prstGeom prst="rect">
            <a:avLst/>
          </a:prstGeom>
          <a:noFill/>
          <a:ln w="12700">
            <a:solidFill>
              <a:srgbClr val="17813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1004" y="3822898"/>
            <a:ext cx="347981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Class 0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861004" y="4283273"/>
            <a:ext cx="347981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Not labelled nonattainment under our processing rule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755 county records, five input features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335584"/>
            <a:ext cx="609585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613396"/>
            <a:ext cx="115821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12261A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Sources: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US EPA AirData (daily ozone, 2025, parameter code 44201) and EPA Green Book (county status)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369245"/>
            <a:ext cx="5079873" cy="330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5756970"/>
            <a:ext cx="5257668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4F5E55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755 total; 603 Class 0, 152 Class 1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324442" y="2109291"/>
            <a:ext cx="12700" cy="4139109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8" name="Text 5"/>
          <p:cNvSpPr/>
          <p:nvPr/>
        </p:nvSpPr>
        <p:spPr>
          <a:xfrm>
            <a:off x="6641934" y="3085108"/>
            <a:ext cx="471158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Features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641934" y="3545483"/>
            <a:ext cx="4711582" cy="1727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Number of daily ozone records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Mean daily ozone concentration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Maximum daily ozone concentration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Mean daily AQI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Mean observation percentage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Methodology: from EPA data to evaluated models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335584"/>
            <a:ext cx="609585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2925167"/>
            <a:ext cx="81774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7813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3227388"/>
            <a:ext cx="2400240" cy="19050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375918"/>
            <a:ext cx="240024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EPA Data Collection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585" y="3836293"/>
            <a:ext cx="240024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AirData + Green Book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467013" y="2925167"/>
            <a:ext cx="87627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7813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67013" y="3227388"/>
            <a:ext cx="2400240" cy="19050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10" name="Text 8"/>
          <p:cNvSpPr/>
          <p:nvPr/>
        </p:nvSpPr>
        <p:spPr>
          <a:xfrm>
            <a:off x="3467013" y="3375918"/>
            <a:ext cx="240024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Data Preprocessing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67013" y="3836293"/>
            <a:ext cx="2400240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County aggregation, merging and label construction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324442" y="2925167"/>
            <a:ext cx="87667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7813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324442" y="3227388"/>
            <a:ext cx="2400240" cy="19050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14" name="Text 12"/>
          <p:cNvSpPr/>
          <p:nvPr/>
        </p:nvSpPr>
        <p:spPr>
          <a:xfrm>
            <a:off x="6324442" y="3375918"/>
            <a:ext cx="240024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Model Training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24442" y="3836293"/>
            <a:ext cx="2400240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Logistic Regression, Decision Tree, Random Forest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81870" y="2925167"/>
            <a:ext cx="88917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7813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181870" y="3227388"/>
            <a:ext cx="2400240" cy="19050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18" name="Text 16"/>
          <p:cNvSpPr/>
          <p:nvPr/>
        </p:nvSpPr>
        <p:spPr>
          <a:xfrm>
            <a:off x="9181870" y="3375918"/>
            <a:ext cx="240024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Model Evaluation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81870" y="3836293"/>
            <a:ext cx="2400240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Stratified 5-fold cross-validation and performance metrics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Three models, four metrics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335584"/>
            <a:ext cx="609585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5" y="2529582"/>
            <a:ext cx="3352716" cy="25400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783582"/>
            <a:ext cx="289552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Logistic Regression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38179" y="3243957"/>
            <a:ext cx="289552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Linear model; standardized inputs, class weighting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419489" y="2529582"/>
            <a:ext cx="3352716" cy="25400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8" name="Text 6"/>
          <p:cNvSpPr/>
          <p:nvPr/>
        </p:nvSpPr>
        <p:spPr>
          <a:xfrm>
            <a:off x="4648084" y="2783582"/>
            <a:ext cx="289552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Decision Tree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48084" y="3243957"/>
            <a:ext cx="3124122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Feature-based decision rules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394" y="2529582"/>
            <a:ext cx="3352716" cy="25400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11" name="Text 9"/>
          <p:cNvSpPr/>
          <p:nvPr/>
        </p:nvSpPr>
        <p:spPr>
          <a:xfrm>
            <a:off x="8457988" y="2783582"/>
            <a:ext cx="289552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Random Forest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457988" y="3243957"/>
            <a:ext cx="3124122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200 trees, class weighting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09585" y="5186859"/>
            <a:ext cx="10972526" cy="1061641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14" name="Text 12"/>
          <p:cNvSpPr/>
          <p:nvPr/>
        </p:nvSpPr>
        <p:spPr>
          <a:xfrm>
            <a:off x="838179" y="5415459"/>
            <a:ext cx="10515337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Metrics: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accuracy, precision, recall, F1-score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Last three for the nonattainment class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Random Forest leads on accuracy and F1; Logistic Regression on recall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793280"/>
            <a:ext cx="609585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2071092"/>
            <a:ext cx="11582110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4F5E55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Mean scores from stratified 5-fold cross-validation.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596356"/>
          <a:ext cx="10972526" cy="914400"/>
        </p:xfrm>
        <a:graphic>
          <a:graphicData uri="http://schemas.openxmlformats.org/drawingml/2006/table">
            <a:tbl>
              <a:tblPr/>
              <a:tblGrid>
                <a:gridCol w="3511165"/>
                <a:gridCol w="1865266"/>
                <a:gridCol w="1865266"/>
                <a:gridCol w="1865266"/>
                <a:gridCol w="1865564"/>
              </a:tblGrid>
              <a:tr h="4811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261A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Model</a:t>
                      </a:r>
                      <a:endParaRPr lang="en-US" sz="17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261A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Accuracy</a:t>
                      </a:r>
                      <a:endParaRPr lang="en-US" sz="17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261A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Precision</a:t>
                      </a:r>
                      <a:endParaRPr lang="en-US" sz="17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261A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Recall</a:t>
                      </a:r>
                      <a:endParaRPr lang="en-US" sz="17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261A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F1-score</a:t>
                      </a:r>
                      <a:endParaRPr lang="en-US" sz="17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11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261A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Logistic Regression</a:t>
                      </a:r>
                      <a:endParaRPr lang="en-US" sz="17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261A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0.781</a:t>
                      </a:r>
                      <a:endParaRPr lang="en-US" sz="17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261A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0.476</a:t>
                      </a:r>
                      <a:endParaRPr lang="en-US" sz="17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0.770</a:t>
                      </a:r>
                      <a:endParaRPr lang="en-US" sz="17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4E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2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261A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0.588</a:t>
                      </a:r>
                      <a:endParaRPr lang="en-US" sz="17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11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261A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Decision Tree</a:t>
                      </a:r>
                      <a:endParaRPr lang="en-US" sz="17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261A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0.818</a:t>
                      </a:r>
                      <a:endParaRPr lang="en-US" sz="17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261A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0.554</a:t>
                      </a:r>
                      <a:endParaRPr lang="en-US" sz="17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261A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0.533</a:t>
                      </a:r>
                      <a:endParaRPr lang="en-US" sz="17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261A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0.542</a:t>
                      </a:r>
                      <a:endParaRPr lang="en-US" sz="17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8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261A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Random Forest</a:t>
                      </a:r>
                      <a:endParaRPr lang="en-US" sz="17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0.871</a:t>
                      </a:r>
                      <a:endParaRPr lang="en-US" sz="17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4E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2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0.737</a:t>
                      </a:r>
                      <a:endParaRPr lang="en-US" sz="17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4E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2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261A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0.566</a:t>
                      </a:r>
                      <a:endParaRPr lang="en-US" sz="17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0.638</a:t>
                      </a:r>
                      <a:endParaRPr lang="en-US" sz="17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4E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23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4708525"/>
            <a:ext cx="11582110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4F5E55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Highlighted cells: best score per column.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9585" y="5233789"/>
            <a:ext cx="10972526" cy="1014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Random Forest: highest accuracy and F1-score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Logistic Regression: highest nonattainment recall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Models trade off finding nonattainment counties against avoiding false positives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Conclusion and limitations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335584"/>
            <a:ext cx="609585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841996"/>
            <a:ext cx="525766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2302371"/>
            <a:ext cx="5257668" cy="192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Supervised learning can classify county-level ozone status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Three models were implemented and evaluated; Random Forest had the highest mean F1-score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Results depend on data quality, feature selection and label construction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324442" y="1613396"/>
            <a:ext cx="12700" cy="4635004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7" name="Text 5"/>
          <p:cNvSpPr/>
          <p:nvPr/>
        </p:nvSpPr>
        <p:spPr>
          <a:xfrm>
            <a:off x="6641934" y="1841996"/>
            <a:ext cx="471158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641934" y="2302371"/>
            <a:ext cx="4711582" cy="1565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Class 0 means not labelled nonattainment by our rule, not that a county never had nonattainment status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Uses 2025 measurements and status labels; not a future-year forecast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2026-10-02T17:18:06Z</dcterms:created>
  <dcterms:modified xsi:type="dcterms:W3CDTF">2026-10-02T17:18:06Z</dcterms:modified>
</cp:coreProperties>
</file>